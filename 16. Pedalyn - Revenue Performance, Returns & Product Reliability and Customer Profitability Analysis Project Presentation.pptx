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94" r:id="rId3"/>
    <p:sldId id="295" r:id="rId4"/>
    <p:sldId id="296" r:id="rId5"/>
    <p:sldId id="297" r:id="rId6"/>
    <p:sldId id="298" r:id="rId7"/>
    <p:sldId id="299" r:id="rId8"/>
    <p:sldId id="300" r:id="rId9"/>
    <p:sldId id="301" r:id="rId10"/>
    <p:sldId id="273" r:id="rId11"/>
    <p:sldId id="264" r:id="rId12"/>
    <p:sldId id="303" r:id="rId13"/>
    <p:sldId id="293" r:id="rId14"/>
    <p:sldId id="267" r:id="rId15"/>
    <p:sldId id="26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B5CF1F-F9A3-4EFC-825C-53D69F984385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831917-29C8-4BC7-957C-F11257860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502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7B484-3B55-367F-51CF-263AE4E3A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081B2E-A296-7EAE-C6CD-60103413B2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599A67-6743-5C7F-8A09-044DD34441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EB31F3-1C3B-F67B-5D97-FF985A3171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831917-29C8-4BC7-957C-F11257860B4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6443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831917-29C8-4BC7-957C-F11257860B4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1760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D07CF-3689-70DD-CB28-AAE11118CA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E1CE79-C9C7-BB25-EF2A-10D0058475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6502CA-5B96-CB8A-20AE-3906E8C37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CA240-4DCA-41BB-A29D-1D0DE405E1C9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B4E639-AD7E-574C-C9E9-F5B43490D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2CD176-E79D-6844-CB60-E7C78B681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980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97AB7-A55C-0B82-FAED-B7E332320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841BAA-D510-ABB0-901D-0FAB309B05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012E59-3B88-F398-664D-3985AEA37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CA240-4DCA-41BB-A29D-1D0DE405E1C9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C125EA-93FA-07C0-7322-40260FD57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E5D02C-4A2F-1824-59A1-7983E4498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155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BFFE9-1FD7-F63D-6439-1E27142E8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3D7795-663E-05D7-5AD6-EDE501C60D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78FD33-591E-4820-A128-A94F0B334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CA240-4DCA-41BB-A29D-1D0DE405E1C9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73559-082C-1927-2A99-DB0902A7B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257344-A764-7087-642A-130D4BDB1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584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862F8-3E12-F92D-405F-D6F538733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60E924-67EF-C4F4-CBC4-3BA853B515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EF2A22-3AA1-9209-180C-ACD5CAE432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B6BA27-B2FD-C446-BEC7-8C46DD9BB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CA240-4DCA-41BB-A29D-1D0DE405E1C9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8349FC-F9E9-C312-F4C6-8D6D604F9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F505D3-5917-4780-1633-FE4FD2110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070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E271D-B1D1-D670-316D-2468EC1F2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281C9-A6B4-72BB-6420-63D0C9FB81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4F6D81-DC99-1889-9E64-F6033F06DA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58B6AD-9212-7FEB-CFE3-F3E14CFE62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D93A19-BA01-CA22-F22E-732EFB0CE9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AFDF2F-88B4-F652-05E4-CA5A375F5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CA240-4DCA-41BB-A29D-1D0DE405E1C9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DAF91B-DD72-2AA0-29EB-85B63003A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67C143-07DD-21D1-88BC-58DBC3BE3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7188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3502C-7C07-3A37-3440-CFE6877CD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934A65-9ABA-A4CB-2DD7-5CB25ECEF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CA240-4DCA-41BB-A29D-1D0DE405E1C9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497960-613F-64A1-9E19-FCAF8E811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4E4B99-D02C-E34A-900E-401B4D530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828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7203A9-34DF-1A1A-0FAE-6315B9509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CA240-4DCA-41BB-A29D-1D0DE405E1C9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6D59CC-1CEE-6108-18C9-364D0D30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2AA34D-CFA4-C5D3-2E13-D88629799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653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55679-E51D-0CCA-C05C-4463EE166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597ADE-E05C-21F4-DCE0-A14C75F551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6D3006-CFC8-B856-9620-E3B6D8BE98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F8152A-8351-B7BE-2FF4-ECFD17E11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CA240-4DCA-41BB-A29D-1D0DE405E1C9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D8D4CE-EDF4-0C77-DFBD-B16DB10CC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4EC1D1-D55C-A862-30A7-9C883B683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3138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672F1-FAF3-F6B1-75BE-9D89225C8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20378F-FD1A-2C35-6AE0-CE2E78A7A9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D4C9C7-AA5D-5148-E367-145C76EB97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CCB853-5ABE-2552-6205-942FD79D3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CA240-4DCA-41BB-A29D-1D0DE405E1C9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129388-4C49-BE88-B847-EE920D618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443087-2BB3-A704-D22E-D242C7218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027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B142C-5EF6-2436-9786-E5975AD47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D4508B-5FD2-4D1F-FD73-B24651E211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C65CB0-E5BC-47F5-6035-DBCFE4349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CA240-4DCA-41BB-A29D-1D0DE405E1C9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FF356D-EF3B-C45C-A827-E6901EAFD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45E016-DF99-DC44-C6F3-B22839CB5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581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7D9BCE-A0F0-4C4F-1D8F-DC958C87F4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9F0D40-AC43-C1C8-5C8B-94D803BC07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4B8351-C7F1-1407-53B1-FD03FFC3F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CA240-4DCA-41BB-A29D-1D0DE405E1C9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180FF2-A8E9-E359-37B4-ED45884BA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B22B75-6ECC-17A2-20CE-2675B3D9B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0276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9F13E8-0655-D862-8DF0-C1E93F72E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FBFED0-7C94-95B8-C497-12C513EF13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737FD-4D5B-4F88-10A6-46C987B1DC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6CA240-4DCA-41BB-A29D-1D0DE405E1C9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167536-CC95-FFEB-5C32-E7F7DA66E2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286531-DCEC-0275-6210-63850CEAF3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591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cnik1710/" TargetMode="External"/><Relationship Id="rId2" Type="http://schemas.openxmlformats.org/officeDocument/2006/relationships/hyperlink" Target="https://github.com/Cnik1710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D8680-A25A-D894-2D56-B1731FC78D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73736"/>
            <a:ext cx="11996928" cy="2441448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Revenue Performance, Returns &amp; Product Reliability and Customer Profitability Analysis</a:t>
            </a:r>
            <a:endParaRPr lang="en-US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6EA40268-244F-926E-D357-3F80868EF7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615184"/>
            <a:ext cx="9713976" cy="2642616"/>
          </a:xfrm>
        </p:spPr>
        <p:txBody>
          <a:bodyPr/>
          <a:lstStyle/>
          <a:p>
            <a:pPr algn="r"/>
            <a:r>
              <a:rPr lang="en-US" b="1" dirty="0"/>
              <a:t>- A Case Study by Anik Chakraborty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97087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7A24A1-A827-C09B-9982-9E4E0D36E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993FF-6D5A-BD3B-C719-B7F26747A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207007"/>
          </a:xfrm>
        </p:spPr>
        <p:txBody>
          <a:bodyPr/>
          <a:lstStyle/>
          <a:p>
            <a:r>
              <a:rPr lang="en-US" b="1" dirty="0"/>
              <a:t>🎯 Objective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C45586-D148-C91F-6469-39D9D7106A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07008"/>
            <a:ext cx="12192000" cy="565099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500" b="1" dirty="0"/>
              <a:t>Project Purpose:</a:t>
            </a:r>
          </a:p>
          <a:p>
            <a:pPr marL="0" indent="0">
              <a:buNone/>
            </a:pPr>
            <a:r>
              <a:rPr lang="en-US" sz="1500" dirty="0"/>
              <a:t>To </a:t>
            </a:r>
            <a:r>
              <a:rPr lang="en-US" sz="1500" b="1" dirty="0"/>
              <a:t>analyze retail performance across Returns, Revenue, and Profitability</a:t>
            </a:r>
            <a:r>
              <a:rPr lang="en-US" sz="1500" dirty="0"/>
              <a:t> and uncover </a:t>
            </a:r>
            <a:r>
              <a:rPr lang="en-US" sz="1500" b="1" dirty="0"/>
              <a:t>actionable business insights</a:t>
            </a:r>
            <a:r>
              <a:rPr lang="en-US" sz="1500" dirty="0"/>
              <a:t>. And also, help stakeholders </a:t>
            </a:r>
            <a:r>
              <a:rPr lang="en-US" sz="1500" b="1" dirty="0"/>
              <a:t>identify revenue drivers, minimize returns, and maximize profitability</a:t>
            </a:r>
            <a:r>
              <a:rPr lang="en-US" sz="1500" dirty="0"/>
              <a:t>.</a:t>
            </a:r>
          </a:p>
          <a:p>
            <a:pPr marL="0" indent="0">
              <a:buNone/>
            </a:pPr>
            <a:endParaRPr lang="en-US" sz="1500" b="1" dirty="0"/>
          </a:p>
          <a:p>
            <a:pPr marL="0" indent="0">
              <a:buNone/>
            </a:pPr>
            <a:r>
              <a:rPr lang="en-US" sz="1500" b="1" dirty="0"/>
              <a:t>Key KPIs:</a:t>
            </a:r>
          </a:p>
          <a:p>
            <a:pPr lvl="1"/>
            <a:r>
              <a:rPr lang="en-US" sz="1500" b="1" dirty="0"/>
              <a:t>Total Orders</a:t>
            </a:r>
            <a:endParaRPr lang="en-US" sz="1500" dirty="0"/>
          </a:p>
          <a:p>
            <a:pPr lvl="1"/>
            <a:r>
              <a:rPr lang="en-US" sz="1500" b="1" dirty="0"/>
              <a:t>Total Revenue</a:t>
            </a:r>
            <a:endParaRPr lang="en-US" sz="1500" dirty="0"/>
          </a:p>
          <a:p>
            <a:pPr lvl="1"/>
            <a:r>
              <a:rPr lang="en-US" sz="1500" b="1" dirty="0"/>
              <a:t>Total Profit</a:t>
            </a:r>
            <a:endParaRPr lang="en-US" sz="1500" dirty="0"/>
          </a:p>
          <a:p>
            <a:pPr lvl="1"/>
            <a:r>
              <a:rPr lang="en-US" sz="1500" b="1" dirty="0"/>
              <a:t>Return Rate (%)</a:t>
            </a:r>
            <a:endParaRPr lang="en-US" sz="1500" dirty="0"/>
          </a:p>
          <a:p>
            <a:pPr lvl="1"/>
            <a:r>
              <a:rPr lang="en-US" sz="1500" b="1" dirty="0"/>
              <a:t>Average Order Value (AOV)</a:t>
            </a:r>
            <a:endParaRPr lang="en-US" sz="1500" dirty="0"/>
          </a:p>
          <a:p>
            <a:pPr lvl="1"/>
            <a:r>
              <a:rPr lang="en-US" sz="1500" b="1" dirty="0"/>
              <a:t>Profit Margin (%)</a:t>
            </a:r>
            <a:endParaRPr lang="en-US" sz="1500" dirty="0"/>
          </a:p>
          <a:p>
            <a:pPr lvl="1"/>
            <a:r>
              <a:rPr lang="en-US" sz="1500" b="1" dirty="0"/>
              <a:t>Total Customers / Returned Products</a:t>
            </a:r>
            <a:endParaRPr lang="en-US" sz="1500" dirty="0"/>
          </a:p>
          <a:p>
            <a:pPr marL="0" indent="0">
              <a:buNone/>
            </a:pPr>
            <a:endParaRPr lang="en-US" sz="1500" b="1" dirty="0"/>
          </a:p>
          <a:p>
            <a:pPr marL="0" indent="0">
              <a:buNone/>
            </a:pPr>
            <a:r>
              <a:rPr lang="en-US" sz="1500" b="1" dirty="0"/>
              <a:t>Deliverables:</a:t>
            </a:r>
          </a:p>
          <a:p>
            <a:pPr lvl="1"/>
            <a:r>
              <a:rPr lang="en-US" sz="1500" b="1" dirty="0"/>
              <a:t>3 Interactive Power BI Dashboards</a:t>
            </a:r>
            <a:endParaRPr lang="en-US" sz="1500" dirty="0"/>
          </a:p>
          <a:p>
            <a:pPr lvl="1"/>
            <a:r>
              <a:rPr lang="en-US" sz="1500" b="1" dirty="0"/>
              <a:t>Revenue Performance</a:t>
            </a:r>
          </a:p>
          <a:p>
            <a:pPr lvl="1"/>
            <a:r>
              <a:rPr lang="en-US" sz="1500" b="1" dirty="0"/>
              <a:t>Returns &amp; Product Reliability</a:t>
            </a:r>
          </a:p>
          <a:p>
            <a:pPr lvl="1"/>
            <a:r>
              <a:rPr lang="en-US" sz="1500" b="1" dirty="0"/>
              <a:t>Customer Profitability</a:t>
            </a:r>
          </a:p>
          <a:p>
            <a:pPr lvl="1"/>
            <a:r>
              <a:rPr lang="en-US" sz="1500" b="1" dirty="0"/>
              <a:t>Business insights &amp; recommendations</a:t>
            </a:r>
            <a:endParaRPr lang="en-US" sz="1500" dirty="0"/>
          </a:p>
          <a:p>
            <a:pPr lvl="1"/>
            <a:r>
              <a:rPr lang="en-US" sz="1500" b="1" dirty="0"/>
              <a:t>Data-driven decision support framework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532066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A6768-51A5-1EAF-E52A-FB0312782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31217-5392-3FB5-42D3-DFDB5D63F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42416"/>
          </a:xfrm>
        </p:spPr>
        <p:txBody>
          <a:bodyPr/>
          <a:lstStyle/>
          <a:p>
            <a:r>
              <a:rPr lang="en-US" dirty="0"/>
              <a:t>📘 </a:t>
            </a:r>
            <a:r>
              <a:rPr lang="en-US" b="1" dirty="0"/>
              <a:t>Project Overview</a:t>
            </a:r>
            <a:endParaRPr lang="en-US" dirty="0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B4190C2-854B-8D33-92B9-3A0A1EF32D1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2351570"/>
            <a:ext cx="12192000" cy="30931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500" b="1" dirty="0"/>
              <a:t>Context Highlights: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This project analyzes a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multi-category retail business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evaluate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performance gaps, risks, and profitability drivers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In a competitive retail environment, understanding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what drives revenue and what causes losses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is critical.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business deals with product categories such as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Bikes, Accessories, and Clothing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with revenue heavily concentrated in select segments.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Key challenges identified include: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High product return rates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impacting overall efficiency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Revenue concentration in limited categories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increasing business risk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Variations in customer profitability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indicating uneven value distribution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This analysis was designed to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identify inefficiencies and uncover actionable, data-driven insights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objective is to transform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raw transactional data into meaningful insights and strategic business decisions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using Power BI.</a:t>
            </a:r>
          </a:p>
        </p:txBody>
      </p:sp>
    </p:spTree>
    <p:extLst>
      <p:ext uri="{BB962C8B-B14F-4D97-AF65-F5344CB8AC3E}">
        <p14:creationId xmlns:p14="http://schemas.microsoft.com/office/powerpoint/2010/main" val="34835306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BA892E-AA6C-4DFC-F94C-E4BD96CAA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42EE6-D4AC-D9A2-CA8D-45D1510D8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61287"/>
          </a:xfrm>
        </p:spPr>
        <p:txBody>
          <a:bodyPr/>
          <a:lstStyle/>
          <a:p>
            <a:r>
              <a:rPr lang="en-US" dirty="0"/>
              <a:t>🗂️ </a:t>
            </a:r>
            <a:r>
              <a:rPr lang="en-US" b="1" dirty="0"/>
              <a:t>Data Overview &amp; Schema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D9EDC6-692D-4267-669D-C7E7BA290B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53312"/>
            <a:ext cx="12192000" cy="550468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500" b="1" dirty="0"/>
              <a:t>Data Source:</a:t>
            </a:r>
          </a:p>
          <a:p>
            <a:pPr lvl="1"/>
            <a:r>
              <a:rPr lang="en-US" sz="1500" b="1" dirty="0"/>
              <a:t>Source:</a:t>
            </a:r>
            <a:r>
              <a:rPr lang="en-US" sz="1500" dirty="0"/>
              <a:t> Structured retail dataset (Sales, Products, Customers, Returns, Territories)</a:t>
            </a:r>
          </a:p>
          <a:p>
            <a:pPr lvl="1"/>
            <a:r>
              <a:rPr lang="en-US" sz="1500" b="1" dirty="0"/>
              <a:t>Data Type:</a:t>
            </a:r>
            <a:r>
              <a:rPr lang="en-US" sz="1500" dirty="0"/>
              <a:t> Relational (Fact + Dimension tables)</a:t>
            </a:r>
          </a:p>
          <a:p>
            <a:pPr lvl="1"/>
            <a:r>
              <a:rPr lang="en-US" sz="1500" b="1" dirty="0"/>
              <a:t>Time Period:</a:t>
            </a:r>
            <a:r>
              <a:rPr lang="en-US" sz="1500" dirty="0"/>
              <a:t> </a:t>
            </a:r>
            <a:r>
              <a:rPr lang="en-US" sz="1500" b="1" dirty="0"/>
              <a:t>2015 – 2017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/>
              <a:t>Data Structure &amp; Metrics:</a:t>
            </a:r>
          </a:p>
          <a:p>
            <a:pPr lvl="1"/>
            <a:r>
              <a:rPr lang="en-US" sz="1500" b="1" dirty="0"/>
              <a:t>Key Index Types: </a:t>
            </a:r>
            <a:r>
              <a:rPr lang="en-US" sz="1500" dirty="0" err="1"/>
              <a:t>ProductKey</a:t>
            </a:r>
            <a:r>
              <a:rPr lang="en-US" sz="1500" dirty="0"/>
              <a:t>, </a:t>
            </a:r>
            <a:r>
              <a:rPr lang="en-US" sz="1500" dirty="0" err="1"/>
              <a:t>CustomerKey</a:t>
            </a:r>
            <a:r>
              <a:rPr lang="en-US" sz="1500" dirty="0"/>
              <a:t>, </a:t>
            </a:r>
            <a:r>
              <a:rPr lang="en-US" sz="1500" dirty="0" err="1"/>
              <a:t>TerritoryKey</a:t>
            </a:r>
            <a:r>
              <a:rPr lang="en-US" sz="1500" dirty="0"/>
              <a:t>, </a:t>
            </a:r>
            <a:r>
              <a:rPr lang="en-US" sz="1500" dirty="0" err="1"/>
              <a:t>OrderNumber</a:t>
            </a:r>
            <a:endParaRPr lang="en-US" sz="1500" dirty="0"/>
          </a:p>
          <a:p>
            <a:pPr lvl="1"/>
            <a:r>
              <a:rPr lang="en-US" sz="1500" b="1" dirty="0"/>
              <a:t>Categories: </a:t>
            </a:r>
            <a:r>
              <a:rPr lang="en-US" sz="1500" dirty="0"/>
              <a:t>Bikes, Accessories, Clothing</a:t>
            </a:r>
          </a:p>
          <a:p>
            <a:pPr lvl="1"/>
            <a:r>
              <a:rPr lang="en-US" sz="1500" b="1" dirty="0"/>
              <a:t>Fact Table: </a:t>
            </a:r>
            <a:r>
              <a:rPr lang="en-US" sz="1500" dirty="0" err="1"/>
              <a:t>sales_combined</a:t>
            </a:r>
            <a:endParaRPr lang="en-US" sz="1500" dirty="0"/>
          </a:p>
          <a:p>
            <a:pPr lvl="1"/>
            <a:r>
              <a:rPr lang="en-US" sz="1500" b="1" dirty="0"/>
              <a:t>Dimension Tables: </a:t>
            </a:r>
            <a:r>
              <a:rPr lang="en-US" sz="1500" dirty="0"/>
              <a:t>customers, products, </a:t>
            </a:r>
            <a:r>
              <a:rPr lang="en-US" sz="1500" dirty="0" err="1"/>
              <a:t>product_categories</a:t>
            </a:r>
            <a:r>
              <a:rPr lang="en-US" sz="1500" dirty="0"/>
              <a:t>, territories, returns</a:t>
            </a:r>
          </a:p>
          <a:p>
            <a:pPr lvl="1"/>
            <a:r>
              <a:rPr lang="en-US" sz="1500" b="1" dirty="0"/>
              <a:t>Calculated Metrics:</a:t>
            </a:r>
          </a:p>
          <a:p>
            <a:pPr lvl="2"/>
            <a:r>
              <a:rPr lang="en-US" sz="1500" b="1" dirty="0"/>
              <a:t>Revenue = Quantity × Price</a:t>
            </a:r>
            <a:endParaRPr lang="en-US" sz="1500" dirty="0"/>
          </a:p>
          <a:p>
            <a:pPr lvl="2"/>
            <a:r>
              <a:rPr lang="en-US" sz="1500" b="1" dirty="0"/>
              <a:t>Profit = Quantity × (Price – Cost)</a:t>
            </a:r>
            <a:endParaRPr lang="en-US" sz="1500" dirty="0"/>
          </a:p>
          <a:p>
            <a:pPr lvl="2"/>
            <a:r>
              <a:rPr lang="en-US" sz="1500" b="1" dirty="0"/>
              <a:t>Return Rate = Returns / Sales</a:t>
            </a:r>
            <a:endParaRPr lang="en-US" sz="1500" dirty="0"/>
          </a:p>
          <a:p>
            <a:pPr lvl="2"/>
            <a:r>
              <a:rPr lang="en-US" sz="1500" b="1" dirty="0"/>
              <a:t>Profit Margin = Profit / Revenue</a:t>
            </a:r>
            <a:endParaRPr lang="en-US" sz="1500" dirty="0"/>
          </a:p>
          <a:p>
            <a:pPr lvl="2"/>
            <a:r>
              <a:rPr lang="en-US" sz="1500" b="1" dirty="0"/>
              <a:t>Income Groups (Low / Middle / High)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11876308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CA8F56-A4E3-DE03-7EDE-FB64401E6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2EA48-7D6B-25B5-B849-09DC67C46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</p:spPr>
        <p:txBody>
          <a:bodyPr/>
          <a:lstStyle/>
          <a:p>
            <a:r>
              <a:rPr lang="en-US" dirty="0"/>
              <a:t>💻 </a:t>
            </a:r>
            <a:r>
              <a:rPr lang="en-US" b="1" dirty="0"/>
              <a:t>Tech Stack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4CA004-26AE-C5D4-9B9E-3BF9172491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" y="1536192"/>
            <a:ext cx="12192000" cy="530355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b="1" dirty="0"/>
              <a:t>Tools:</a:t>
            </a:r>
          </a:p>
          <a:p>
            <a:pPr lvl="1"/>
            <a:r>
              <a:rPr lang="en-US" sz="1500" b="1" dirty="0"/>
              <a:t>SQL</a:t>
            </a:r>
            <a:r>
              <a:rPr lang="en-US" sz="1500" dirty="0"/>
              <a:t> </a:t>
            </a:r>
          </a:p>
          <a:p>
            <a:pPr lvl="2"/>
            <a:r>
              <a:rPr lang="en-US" sz="1500" dirty="0"/>
              <a:t>Data extraction &amp; business question analysis</a:t>
            </a:r>
          </a:p>
          <a:p>
            <a:pPr lvl="1"/>
            <a:r>
              <a:rPr lang="en-US" sz="1500" b="1" dirty="0"/>
              <a:t>PowerQuery</a:t>
            </a:r>
            <a:r>
              <a:rPr lang="en-US" sz="1500" dirty="0"/>
              <a:t> </a:t>
            </a:r>
          </a:p>
          <a:p>
            <a:pPr lvl="2"/>
            <a:r>
              <a:rPr lang="en-US" sz="1500" dirty="0"/>
              <a:t>Data cleaning, transformations, and preparation</a:t>
            </a:r>
            <a:endParaRPr lang="en-US" sz="1500" b="1" dirty="0"/>
          </a:p>
          <a:p>
            <a:pPr lvl="1"/>
            <a:r>
              <a:rPr lang="en-US" sz="1500" b="1" dirty="0"/>
              <a:t>PowerBI</a:t>
            </a:r>
          </a:p>
          <a:p>
            <a:pPr lvl="2"/>
            <a:r>
              <a:rPr lang="en-US" sz="1500" dirty="0"/>
              <a:t>Visualization, DAX measures &amp; dashboard design</a:t>
            </a:r>
          </a:p>
          <a:p>
            <a:pPr lvl="2"/>
            <a:r>
              <a:rPr lang="en-US" sz="1500" b="1" dirty="0"/>
              <a:t>DAX</a:t>
            </a:r>
            <a:r>
              <a:rPr lang="en-US" sz="1500" dirty="0"/>
              <a:t> – Calculated measures and time intelligence</a:t>
            </a:r>
            <a:endParaRPr lang="en-US" sz="1500" b="1" dirty="0"/>
          </a:p>
          <a:p>
            <a:pPr lvl="1"/>
            <a:r>
              <a:rPr lang="en-US" sz="1500" b="1" dirty="0"/>
              <a:t>PowerPoint</a:t>
            </a:r>
          </a:p>
          <a:p>
            <a:pPr lvl="2"/>
            <a:r>
              <a:rPr lang="en-US" sz="1500" dirty="0"/>
              <a:t>Presentation and final dashboard snapshots</a:t>
            </a:r>
          </a:p>
          <a:p>
            <a:pPr marL="0" indent="0">
              <a:buNone/>
            </a:pP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3033863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DE248-9851-9F88-EF9F-E8549C3CC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3F7D6-798B-55DD-E9EA-DFC98DEAE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70431"/>
          </a:xfrm>
        </p:spPr>
        <p:txBody>
          <a:bodyPr/>
          <a:lstStyle/>
          <a:p>
            <a:r>
              <a:rPr lang="en-US" dirty="0"/>
              <a:t>📈 </a:t>
            </a:r>
            <a:r>
              <a:rPr lang="en-US" b="1" dirty="0"/>
              <a:t>Methodology &amp; Analysis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DF8F1D-3A1F-D117-1865-670F335E44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70432"/>
            <a:ext cx="12192000" cy="568756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500" b="1" dirty="0"/>
              <a:t>Preparation, Process &amp; Analytical Approach:</a:t>
            </a:r>
          </a:p>
          <a:p>
            <a:pPr lvl="1"/>
            <a:r>
              <a:rPr lang="en-US" sz="1500" b="1" dirty="0"/>
              <a:t>Data Preparation &amp; Cleaning:</a:t>
            </a:r>
          </a:p>
          <a:p>
            <a:pPr lvl="2"/>
            <a:r>
              <a:rPr lang="en-US" sz="1500" dirty="0"/>
              <a:t>Removed </a:t>
            </a:r>
            <a:r>
              <a:rPr lang="en-US" sz="1500" b="1" dirty="0"/>
              <a:t>null values &amp; inconsistencies</a:t>
            </a:r>
            <a:endParaRPr lang="en-US" sz="1500" dirty="0"/>
          </a:p>
          <a:p>
            <a:pPr lvl="2"/>
            <a:r>
              <a:rPr lang="en-US" sz="1500" dirty="0"/>
              <a:t>Fixed </a:t>
            </a:r>
            <a:r>
              <a:rPr lang="en-US" sz="1500" b="1" dirty="0"/>
              <a:t>date hierarchy issues</a:t>
            </a:r>
            <a:endParaRPr lang="en-US" sz="1500" dirty="0"/>
          </a:p>
          <a:p>
            <a:pPr lvl="2"/>
            <a:r>
              <a:rPr lang="en-US" sz="1500" dirty="0"/>
              <a:t>Standardized </a:t>
            </a:r>
            <a:r>
              <a:rPr lang="en-US" sz="1500" b="1" dirty="0"/>
              <a:t>product &amp; customer attributes</a:t>
            </a:r>
            <a:endParaRPr lang="en-US" sz="1500" dirty="0"/>
          </a:p>
          <a:p>
            <a:pPr lvl="1"/>
            <a:r>
              <a:rPr lang="en-US" sz="1500" b="1" dirty="0"/>
              <a:t>Data Modeling &amp; Integration:</a:t>
            </a:r>
          </a:p>
          <a:p>
            <a:pPr lvl="2"/>
            <a:r>
              <a:rPr lang="en-US" sz="1500" dirty="0"/>
              <a:t>Built </a:t>
            </a:r>
            <a:r>
              <a:rPr lang="en-US" sz="1500" b="1" dirty="0"/>
              <a:t>star schema model</a:t>
            </a:r>
            <a:endParaRPr lang="en-US" sz="1500" dirty="0"/>
          </a:p>
          <a:p>
            <a:pPr lvl="2"/>
            <a:r>
              <a:rPr lang="en-US" sz="1500" dirty="0"/>
              <a:t>Established </a:t>
            </a:r>
            <a:r>
              <a:rPr lang="en-US" sz="1500" b="1" dirty="0"/>
              <a:t>relationships between fact &amp; dimension tables</a:t>
            </a:r>
            <a:endParaRPr lang="en-US" sz="1500" dirty="0"/>
          </a:p>
          <a:p>
            <a:pPr lvl="1"/>
            <a:r>
              <a:rPr lang="en-US" sz="1500" b="1" dirty="0"/>
              <a:t>Feature Engineering:</a:t>
            </a:r>
          </a:p>
          <a:p>
            <a:pPr lvl="2"/>
            <a:r>
              <a:rPr lang="en-US" sz="1500" b="1" dirty="0"/>
              <a:t>Profit &amp; Revenue measures</a:t>
            </a:r>
            <a:endParaRPr lang="en-US" sz="1500" dirty="0"/>
          </a:p>
          <a:p>
            <a:pPr lvl="2"/>
            <a:r>
              <a:rPr lang="en-US" sz="1500" b="1" dirty="0"/>
              <a:t>Return Rate</a:t>
            </a:r>
            <a:endParaRPr lang="en-US" sz="1500" dirty="0"/>
          </a:p>
          <a:p>
            <a:pPr lvl="2"/>
            <a:r>
              <a:rPr lang="en-US" sz="1500" b="1" dirty="0"/>
              <a:t>Growth % (MoM)</a:t>
            </a:r>
            <a:endParaRPr lang="en-US" sz="1500" dirty="0"/>
          </a:p>
          <a:p>
            <a:pPr lvl="2"/>
            <a:r>
              <a:rPr lang="en-US" sz="1500" b="1" dirty="0"/>
              <a:t>Income segmentation</a:t>
            </a:r>
            <a:endParaRPr lang="en-US" sz="1500" dirty="0"/>
          </a:p>
          <a:p>
            <a:pPr lvl="1"/>
            <a:r>
              <a:rPr lang="en-US" sz="1500" b="1" dirty="0"/>
              <a:t>Visualization Design:</a:t>
            </a:r>
          </a:p>
          <a:p>
            <a:pPr lvl="2"/>
            <a:r>
              <a:rPr lang="en-US" sz="1500" dirty="0"/>
              <a:t>Designed </a:t>
            </a:r>
            <a:r>
              <a:rPr lang="en-US" sz="1500" b="1" dirty="0"/>
              <a:t>3 business-focused dashboards</a:t>
            </a:r>
            <a:endParaRPr lang="en-US" sz="1500" dirty="0"/>
          </a:p>
          <a:p>
            <a:pPr lvl="2"/>
            <a:r>
              <a:rPr lang="en-US" sz="1500" dirty="0"/>
              <a:t>Used </a:t>
            </a:r>
            <a:r>
              <a:rPr lang="en-US" sz="1500" b="1" dirty="0"/>
              <a:t>clear KPI cards &amp; supporting visuals</a:t>
            </a:r>
          </a:p>
          <a:p>
            <a:pPr lvl="2"/>
            <a:r>
              <a:rPr lang="en-US" sz="1500" dirty="0"/>
              <a:t>Consistent color theme &amp; layout</a:t>
            </a:r>
          </a:p>
          <a:p>
            <a:pPr lvl="1"/>
            <a:r>
              <a:rPr lang="en-US" sz="1500" b="1" dirty="0"/>
              <a:t>Validation &amp; Formatting:</a:t>
            </a:r>
          </a:p>
          <a:p>
            <a:pPr lvl="2"/>
            <a:r>
              <a:rPr lang="en-US" sz="1500" b="1" dirty="0"/>
              <a:t>Accurate KPI calculations</a:t>
            </a:r>
            <a:endParaRPr lang="en-US" sz="1500" dirty="0"/>
          </a:p>
          <a:p>
            <a:pPr lvl="2"/>
            <a:r>
              <a:rPr lang="en-US" sz="1500" b="1" dirty="0"/>
              <a:t>Consistent formatting</a:t>
            </a:r>
            <a:endParaRPr lang="en-US" sz="1500" dirty="0"/>
          </a:p>
          <a:p>
            <a:pPr lvl="2"/>
            <a:r>
              <a:rPr lang="en-US" sz="1500" b="1" dirty="0"/>
              <a:t>User-friendly layout &amp; slicers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3392043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529C38-2056-6230-74A3-92E21B52C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94DFC-B995-785C-D373-C39FB3497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97280"/>
          </a:xfrm>
        </p:spPr>
        <p:txBody>
          <a:bodyPr/>
          <a:lstStyle/>
          <a:p>
            <a:r>
              <a:rPr lang="en-US" dirty="0"/>
              <a:t>❓ </a:t>
            </a:r>
            <a:r>
              <a:rPr lang="en-US" b="1" dirty="0"/>
              <a:t>Problem Statement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84CAB2-E2A4-7030-447D-ADE0DBE5EE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72768"/>
            <a:ext cx="12192000" cy="5285231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500" dirty="0"/>
              <a:t>To address the business challenges and uncover meaningful insights, this analysis focuses on answering </a:t>
            </a:r>
            <a:r>
              <a:rPr lang="en-US" altLang="en-US" sz="1500" b="1" dirty="0"/>
              <a:t>critical questions related to revenue generation, return risks, and customer behavior</a:t>
            </a:r>
            <a:r>
              <a:rPr lang="en-US" altLang="en-US" sz="1500" dirty="0"/>
              <a:t>. The objective is to identify </a:t>
            </a:r>
            <a:r>
              <a:rPr lang="en-US" altLang="en-US" sz="1500" b="1" dirty="0"/>
              <a:t>key drivers of performance, areas of inefficiency, and opportunities for growth</a:t>
            </a:r>
            <a:r>
              <a:rPr lang="en-US" altLang="en-US" sz="1500" dirty="0"/>
              <a:t> across products, customers, and regions.</a:t>
            </a:r>
          </a:p>
          <a:p>
            <a:pPr marL="0" indent="0">
              <a:buNone/>
            </a:pPr>
            <a:endParaRPr lang="en-US" sz="1500" b="1" dirty="0"/>
          </a:p>
          <a:p>
            <a:pPr marL="0" indent="0">
              <a:buNone/>
            </a:pPr>
            <a:r>
              <a:rPr lang="en-US" sz="1500" b="1" dirty="0"/>
              <a:t>Key Questions:</a:t>
            </a:r>
          </a:p>
          <a:p>
            <a:pPr lvl="1"/>
            <a:r>
              <a:rPr lang="en-US" sz="1500" dirty="0"/>
              <a:t>Which </a:t>
            </a:r>
            <a:r>
              <a:rPr lang="en-US" sz="1500" b="1" dirty="0"/>
              <a:t>products and categories drive maximum revenue and profit</a:t>
            </a:r>
            <a:r>
              <a:rPr lang="en-US" sz="1500" dirty="0"/>
              <a:t>?</a:t>
            </a:r>
          </a:p>
          <a:p>
            <a:pPr lvl="1"/>
            <a:r>
              <a:rPr lang="en-US" sz="1500" dirty="0"/>
              <a:t>Which </a:t>
            </a:r>
            <a:r>
              <a:rPr lang="en-US" sz="1500" b="1" dirty="0"/>
              <a:t>products have high return rates and why</a:t>
            </a:r>
            <a:r>
              <a:rPr lang="en-US" sz="1500" dirty="0"/>
              <a:t>?</a:t>
            </a:r>
          </a:p>
          <a:p>
            <a:pPr lvl="1"/>
            <a:r>
              <a:rPr lang="en-US" sz="1500" dirty="0"/>
              <a:t>Are </a:t>
            </a:r>
            <a:r>
              <a:rPr lang="en-US" sz="1500" b="1" dirty="0"/>
              <a:t>sales growing consistently over time</a:t>
            </a:r>
            <a:r>
              <a:rPr lang="en-US" sz="1500" dirty="0"/>
              <a:t>?</a:t>
            </a:r>
          </a:p>
          <a:p>
            <a:pPr lvl="1"/>
            <a:r>
              <a:rPr lang="en-US" sz="1500" dirty="0"/>
              <a:t>Which </a:t>
            </a:r>
            <a:r>
              <a:rPr lang="en-US" sz="1500" b="1" dirty="0"/>
              <a:t>customers contribute the most to revenue and profit</a:t>
            </a:r>
            <a:r>
              <a:rPr lang="en-US" sz="1500" dirty="0"/>
              <a:t>?</a:t>
            </a:r>
          </a:p>
          <a:p>
            <a:pPr lvl="1"/>
            <a:r>
              <a:rPr lang="en-US" sz="1500" dirty="0"/>
              <a:t>How does </a:t>
            </a:r>
            <a:r>
              <a:rPr lang="en-US" sz="1500" b="1" dirty="0"/>
              <a:t>customer behavior vary by income, gender, and geography</a:t>
            </a:r>
            <a:r>
              <a:rPr lang="en-US" sz="1500" dirty="0"/>
              <a:t>?</a:t>
            </a:r>
          </a:p>
          <a:p>
            <a:pPr lvl="1"/>
            <a:r>
              <a:rPr lang="en-US" sz="1500" dirty="0"/>
              <a:t>Which </a:t>
            </a:r>
            <a:r>
              <a:rPr lang="en-US" sz="1500" b="1" dirty="0"/>
              <a:t>regions and segments are underperforming</a:t>
            </a:r>
            <a:r>
              <a:rPr lang="en-US" sz="15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0223587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DC07BE-3A90-A025-A2DC-7C3370CF0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8168E-EA80-8FD3-18FC-5022B4380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271015"/>
          </a:xfrm>
        </p:spPr>
        <p:txBody>
          <a:bodyPr/>
          <a:lstStyle/>
          <a:p>
            <a:r>
              <a:rPr lang="en-US" dirty="0"/>
              <a:t>💡 </a:t>
            </a:r>
            <a:r>
              <a:rPr lang="en-US" b="1" dirty="0"/>
              <a:t>Key Insights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CB8243-8292-D45E-D5D6-C03D468ECD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17320"/>
            <a:ext cx="12192000" cy="544068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500" b="1" dirty="0"/>
              <a:t>Top Findings:</a:t>
            </a:r>
          </a:p>
          <a:p>
            <a:pPr lvl="1"/>
            <a:r>
              <a:rPr lang="en-US" sz="1500" b="1" dirty="0"/>
              <a:t>Bikes category dominates revenue (~5.2M)</a:t>
            </a:r>
            <a:r>
              <a:rPr lang="en-US" sz="1500" dirty="0"/>
              <a:t> while others contribute minimally.</a:t>
            </a:r>
          </a:p>
          <a:p>
            <a:pPr lvl="1"/>
            <a:r>
              <a:rPr lang="en-US" sz="1500" b="1" dirty="0"/>
              <a:t>Return Rate is ~11.64%</a:t>
            </a:r>
            <a:r>
              <a:rPr lang="en-US" sz="1500" dirty="0"/>
              <a:t>, indicating </a:t>
            </a:r>
            <a:r>
              <a:rPr lang="en-US" sz="1500" b="1" dirty="0"/>
              <a:t>significant product quality or expectation issues</a:t>
            </a:r>
            <a:r>
              <a:rPr lang="en-US" sz="1500" dirty="0"/>
              <a:t>.</a:t>
            </a:r>
          </a:p>
          <a:p>
            <a:pPr lvl="1"/>
            <a:r>
              <a:rPr lang="en-US" sz="1500" dirty="0"/>
              <a:t>Certain products (e.g., </a:t>
            </a:r>
            <a:r>
              <a:rPr lang="en-US" sz="1500" b="1" dirty="0"/>
              <a:t>Road &amp; Mountain series</a:t>
            </a:r>
            <a:r>
              <a:rPr lang="en-US" sz="1500" dirty="0"/>
              <a:t>) show </a:t>
            </a:r>
            <a:r>
              <a:rPr lang="en-US" sz="1500" b="1" dirty="0"/>
              <a:t>high return rates → risk area</a:t>
            </a:r>
            <a:r>
              <a:rPr lang="en-US" sz="1500" dirty="0"/>
              <a:t>.</a:t>
            </a:r>
          </a:p>
          <a:p>
            <a:pPr lvl="1"/>
            <a:r>
              <a:rPr lang="en-US" sz="1500" b="1" dirty="0"/>
              <a:t>Revenue trend shows fluctuations</a:t>
            </a:r>
            <a:r>
              <a:rPr lang="en-US" sz="1500" dirty="0"/>
              <a:t>, with </a:t>
            </a:r>
            <a:r>
              <a:rPr lang="en-US" sz="1500" b="1" dirty="0"/>
              <a:t>peak growth in mid-2016</a:t>
            </a:r>
            <a:r>
              <a:rPr lang="en-US" sz="1500" dirty="0"/>
              <a:t>.</a:t>
            </a:r>
          </a:p>
          <a:p>
            <a:pPr lvl="1"/>
            <a:r>
              <a:rPr lang="en-US" sz="1500" b="1" dirty="0"/>
              <a:t>Profit is highly concentrated in specific models (Mountain-200)</a:t>
            </a:r>
            <a:r>
              <a:rPr lang="en-US" sz="1500" dirty="0"/>
              <a:t>.</a:t>
            </a:r>
          </a:p>
          <a:p>
            <a:pPr lvl="1"/>
            <a:r>
              <a:rPr lang="en-US" sz="1500" b="1" dirty="0"/>
              <a:t>Middle-income customers contribute highest profit</a:t>
            </a:r>
            <a:r>
              <a:rPr lang="en-US" sz="1500" dirty="0"/>
              <a:t>, showing </a:t>
            </a:r>
            <a:r>
              <a:rPr lang="en-US" sz="1500" b="1" dirty="0"/>
              <a:t>strong purchasing power</a:t>
            </a:r>
            <a:r>
              <a:rPr lang="en-US" sz="1500" dirty="0"/>
              <a:t>.</a:t>
            </a:r>
          </a:p>
          <a:p>
            <a:pPr marL="0" indent="0">
              <a:buNone/>
            </a:pPr>
            <a:endParaRPr lang="en-US" sz="1500" b="1" dirty="0"/>
          </a:p>
          <a:p>
            <a:pPr marL="0" indent="0">
              <a:buNone/>
            </a:pPr>
            <a:r>
              <a:rPr lang="en-US" sz="1500" b="1" dirty="0"/>
              <a:t>Supporting Metrics:</a:t>
            </a:r>
          </a:p>
          <a:p>
            <a:pPr lvl="1"/>
            <a:r>
              <a:rPr lang="en-US" sz="1500" b="1" dirty="0"/>
              <a:t>Total Revenue:</a:t>
            </a:r>
            <a:r>
              <a:rPr lang="en-US" sz="1500" dirty="0"/>
              <a:t> 5.42M</a:t>
            </a:r>
          </a:p>
          <a:p>
            <a:pPr lvl="1"/>
            <a:r>
              <a:rPr lang="en-US" sz="1500" b="1" dirty="0"/>
              <a:t>Total Profit:</a:t>
            </a:r>
            <a:r>
              <a:rPr lang="en-US" sz="1500" dirty="0"/>
              <a:t> 2.35M</a:t>
            </a:r>
          </a:p>
          <a:p>
            <a:pPr lvl="1"/>
            <a:r>
              <a:rPr lang="en-US" sz="1500" b="1" dirty="0"/>
              <a:t>Profit Margin:</a:t>
            </a:r>
            <a:r>
              <a:rPr lang="en-US" sz="1500" dirty="0"/>
              <a:t> ~43%</a:t>
            </a:r>
          </a:p>
          <a:p>
            <a:pPr lvl="1"/>
            <a:r>
              <a:rPr lang="en-US" sz="1500" b="1" dirty="0"/>
              <a:t>Total Returns:</a:t>
            </a:r>
            <a:r>
              <a:rPr lang="en-US" sz="1500" dirty="0"/>
              <a:t> 1,828</a:t>
            </a:r>
          </a:p>
          <a:p>
            <a:pPr lvl="1"/>
            <a:r>
              <a:rPr lang="en-US" sz="1500" b="1" dirty="0"/>
              <a:t>Top Product Revenue:</a:t>
            </a:r>
            <a:r>
              <a:rPr lang="en-US" sz="1500" dirty="0"/>
              <a:t> ~0.45M</a:t>
            </a:r>
          </a:p>
          <a:p>
            <a:pPr lvl="1"/>
            <a:r>
              <a:rPr lang="en-US" sz="1500" b="1" dirty="0"/>
              <a:t>Top Model Profit:</a:t>
            </a:r>
            <a:r>
              <a:rPr lang="en-US" sz="1500" dirty="0"/>
              <a:t> ~1.16M</a:t>
            </a:r>
          </a:p>
        </p:txBody>
      </p:sp>
    </p:spTree>
    <p:extLst>
      <p:ext uri="{BB962C8B-B14F-4D97-AF65-F5344CB8AC3E}">
        <p14:creationId xmlns:p14="http://schemas.microsoft.com/office/powerpoint/2010/main" val="30128479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BBBCC3-3178-BB03-4F94-36909A867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31299-CC3F-DB52-B627-01479B60C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280159"/>
          </a:xfrm>
        </p:spPr>
        <p:txBody>
          <a:bodyPr/>
          <a:lstStyle/>
          <a:p>
            <a:r>
              <a:rPr lang="en-US" dirty="0"/>
              <a:t>📍</a:t>
            </a:r>
            <a:r>
              <a:rPr lang="en-US" b="1" dirty="0"/>
              <a:t>Conclusion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C83085-8DE1-CFFD-0418-F629680A2A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20824"/>
            <a:ext cx="12192000" cy="48371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b="1" dirty="0"/>
              <a:t>Summary:</a:t>
            </a:r>
          </a:p>
          <a:p>
            <a:pPr lvl="1"/>
            <a:r>
              <a:rPr lang="en-US" sz="1500" dirty="0"/>
              <a:t>The business is </a:t>
            </a:r>
            <a:r>
              <a:rPr lang="en-US" sz="1500" b="1" dirty="0"/>
              <a:t>revenue-strong but operationally inefficient due to returns</a:t>
            </a:r>
            <a:r>
              <a:rPr lang="en-US" sz="1500" dirty="0"/>
              <a:t>.</a:t>
            </a:r>
          </a:p>
          <a:p>
            <a:pPr lvl="1"/>
            <a:endParaRPr lang="en-US" sz="1500" b="1" dirty="0"/>
          </a:p>
          <a:p>
            <a:pPr lvl="1"/>
            <a:r>
              <a:rPr lang="en-US" sz="1500" b="1" dirty="0"/>
              <a:t>Profitability is concentrated</a:t>
            </a:r>
            <a:r>
              <a:rPr lang="en-US" sz="1500" dirty="0"/>
              <a:t>, indicating </a:t>
            </a:r>
            <a:r>
              <a:rPr lang="en-US" sz="1500" b="1" dirty="0"/>
              <a:t>dependency on limited products</a:t>
            </a:r>
            <a:r>
              <a:rPr lang="en-US" sz="1500" dirty="0"/>
              <a:t>.</a:t>
            </a:r>
          </a:p>
          <a:p>
            <a:pPr lvl="1"/>
            <a:endParaRPr lang="en-US" sz="1500" b="1" dirty="0"/>
          </a:p>
          <a:p>
            <a:pPr lvl="1"/>
            <a:r>
              <a:rPr lang="en-US" sz="1500" b="1" dirty="0"/>
              <a:t>Customer segmentation reveals high-value target groups</a:t>
            </a:r>
            <a:r>
              <a:rPr lang="en-US" sz="1500" dirty="0"/>
              <a:t>.</a:t>
            </a:r>
          </a:p>
          <a:p>
            <a:pPr lvl="1"/>
            <a:endParaRPr lang="en-US" sz="1500" dirty="0"/>
          </a:p>
          <a:p>
            <a:pPr lvl="1"/>
            <a:r>
              <a:rPr lang="en-US" sz="1500" dirty="0"/>
              <a:t>Focus should be on:</a:t>
            </a:r>
          </a:p>
          <a:p>
            <a:pPr lvl="2"/>
            <a:r>
              <a:rPr lang="en-US" sz="1500" b="1" dirty="0"/>
              <a:t>Reducing returns</a:t>
            </a:r>
            <a:endParaRPr lang="en-US" sz="1500" dirty="0"/>
          </a:p>
          <a:p>
            <a:pPr lvl="2"/>
            <a:r>
              <a:rPr lang="en-US" sz="1500" b="1" dirty="0"/>
              <a:t>Diversifying revenue sources</a:t>
            </a:r>
            <a:endParaRPr lang="en-US" sz="1500" dirty="0"/>
          </a:p>
          <a:p>
            <a:pPr lvl="2"/>
            <a:r>
              <a:rPr lang="en-US" sz="1500" b="1" dirty="0"/>
              <a:t>Targeting high-profit customer segments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41677430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4EE8F-1C7D-473A-67DC-0702E54E3D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17CD5-1967-34C2-0596-52403C529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271015"/>
          </a:xfrm>
        </p:spPr>
        <p:txBody>
          <a:bodyPr>
            <a:normAutofit/>
          </a:bodyPr>
          <a:lstStyle/>
          <a:p>
            <a:r>
              <a:rPr lang="en-US" dirty="0"/>
              <a:t>🖥️ </a:t>
            </a:r>
            <a:r>
              <a:rPr lang="en-US" b="1" dirty="0"/>
              <a:t>Dashboard Overview (1) – Revenue Performance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69A0546-8F17-55A6-EDD7-77CFAFF967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71016"/>
            <a:ext cx="12192000" cy="5602466"/>
          </a:xfrm>
        </p:spPr>
      </p:pic>
    </p:spTree>
    <p:extLst>
      <p:ext uri="{BB962C8B-B14F-4D97-AF65-F5344CB8AC3E}">
        <p14:creationId xmlns:p14="http://schemas.microsoft.com/office/powerpoint/2010/main" val="10299890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D3C93-9CE2-F428-1842-837A8776E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271015"/>
          </a:xfrm>
        </p:spPr>
        <p:txBody>
          <a:bodyPr>
            <a:normAutofit fontScale="90000"/>
          </a:bodyPr>
          <a:lstStyle/>
          <a:p>
            <a:r>
              <a:rPr lang="en-US" dirty="0"/>
              <a:t>🖥️ </a:t>
            </a:r>
            <a:r>
              <a:rPr lang="en-US" b="1" dirty="0"/>
              <a:t>Dashboard Overview (2) – Returns &amp; Product Reliability</a:t>
            </a:r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EC256C2E-87BF-58C1-043B-8E5FB4C54E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71016"/>
            <a:ext cx="12271248" cy="5586983"/>
          </a:xfrm>
        </p:spPr>
      </p:pic>
    </p:spTree>
    <p:extLst>
      <p:ext uri="{BB962C8B-B14F-4D97-AF65-F5344CB8AC3E}">
        <p14:creationId xmlns:p14="http://schemas.microsoft.com/office/powerpoint/2010/main" val="15620637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909D5-B477-4167-5605-8D6913091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3F44D-5162-6032-1E99-10FBDDAAC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271015"/>
          </a:xfrm>
        </p:spPr>
        <p:txBody>
          <a:bodyPr>
            <a:normAutofit/>
          </a:bodyPr>
          <a:lstStyle/>
          <a:p>
            <a:r>
              <a:rPr lang="en-US" dirty="0"/>
              <a:t>🖥️ </a:t>
            </a:r>
            <a:r>
              <a:rPr lang="en-US" b="1" dirty="0"/>
              <a:t>Dashboard Overview (3) – Customer Profitability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9EEC6A3-2553-875D-8122-C5DD94B113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71016"/>
            <a:ext cx="12191999" cy="5586983"/>
          </a:xfrm>
        </p:spPr>
      </p:pic>
    </p:spTree>
    <p:extLst>
      <p:ext uri="{BB962C8B-B14F-4D97-AF65-F5344CB8AC3E}">
        <p14:creationId xmlns:p14="http://schemas.microsoft.com/office/powerpoint/2010/main" val="6522135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883EE-CAA4-6258-2462-71277E2F5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916EB768-C1A2-798B-6997-44B7CBCBE9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236235"/>
            <a:ext cx="1219200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✅ Business Impact &amp; Use Cases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38736BC-DF12-8C5E-83E3-577D030710F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2099562"/>
            <a:ext cx="12192000" cy="44781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500" dirty="0"/>
              <a:t>This analysis translates data insights into </a:t>
            </a:r>
            <a:r>
              <a:rPr lang="en-US" altLang="en-US" sz="1500" b="1" dirty="0"/>
              <a:t>practical business actions</a:t>
            </a:r>
            <a:r>
              <a:rPr lang="en-US" altLang="en-US" sz="1500" dirty="0"/>
              <a:t> that drive measurable impact across operations, marketing, and strategy. By leveraging data-driven findings, the business can </a:t>
            </a:r>
            <a:r>
              <a:rPr lang="en-US" altLang="en-US" sz="1500" b="1" dirty="0"/>
              <a:t>reduce inefficiencies, enhance customer targeting, and improve overall profitability</a:t>
            </a:r>
            <a:r>
              <a:rPr lang="en-US" altLang="en-US" sz="1500" dirty="0"/>
              <a:t>, enabling smarter and more informed decision-making.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5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500" b="1" dirty="0"/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Helps reduce return losses by identifying problem products.</a:t>
            </a:r>
            <a:r>
              <a:rPr lang="en-US" altLang="en-US" sz="1500" dirty="0"/>
              <a:t> 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Pinpoints products with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high return rates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enabling businesses to investigate root causes like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quality issues, pricing mismatch, or customer expectations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and take corrective actions.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5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Enables targeted marketing for high-value customers.</a:t>
            </a:r>
            <a:r>
              <a:rPr lang="en-US" altLang="en-US" sz="1500" dirty="0"/>
              <a:t> 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Identifies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top-performing customer segments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based on revenue and profitability, allowing for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personalized campaigns, better engagement, and higher conversion rates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5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Supports inventory &amp; pricing decisions</a:t>
            </a:r>
            <a:r>
              <a:rPr lang="en-US" altLang="en-US" sz="1500" dirty="0"/>
              <a:t>. 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Provides insights into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high-demand and low-performing products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helping optimize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stock levels, avoid overstocking, and implement competitive pricing strategies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5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Assists leadership in data-driven strategic planning</a:t>
            </a:r>
            <a:r>
              <a:rPr lang="en-US" altLang="en-US" sz="1500" dirty="0"/>
              <a:t>. 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Offers a clear view of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business performance across products, regions, and customers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enabling leaders to make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informed, strategic decisions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backed by data.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5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Improves profitability through product &amp; segment optimization</a:t>
            </a:r>
            <a:r>
              <a:rPr lang="en-US" altLang="en-US" sz="1500" dirty="0"/>
              <a:t>. 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Highlights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high-margin products and profitable segments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allowing the business to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focus resources, refine offerings, and maximize overall profitability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91974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854EA-C6C0-AD7A-DFE4-7B107D73F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52143"/>
          </a:xfrm>
        </p:spPr>
        <p:txBody>
          <a:bodyPr/>
          <a:lstStyle/>
          <a:p>
            <a:r>
              <a:rPr lang="en-US" dirty="0"/>
              <a:t>🙏 </a:t>
            </a:r>
            <a:r>
              <a:rPr lang="en-US" b="1" dirty="0"/>
              <a:t>Acknowledgement &amp; Contact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17620C-3B01-BD8D-C488-C2363A9347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08760"/>
            <a:ext cx="12192000" cy="5349239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Project Analyst: </a:t>
            </a:r>
            <a:r>
              <a:rPr lang="en-US" dirty="0"/>
              <a:t>Anik Chakraborty</a:t>
            </a:r>
            <a:br>
              <a:rPr lang="en-US" dirty="0"/>
            </a:br>
            <a:r>
              <a:rPr lang="en-US" dirty="0"/>
              <a:t>		📧 Email: anikc1710@gmail.com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Special Thanks To:</a:t>
            </a:r>
            <a:endParaRPr lang="en-US" dirty="0"/>
          </a:p>
          <a:p>
            <a:pPr lvl="1"/>
            <a:r>
              <a:rPr lang="en-US" b="1" dirty="0"/>
              <a:t>Coding Ninjas</a:t>
            </a:r>
            <a:r>
              <a:rPr lang="en-US" dirty="0"/>
              <a:t> – for project framework and guidance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Connect:</a:t>
            </a:r>
            <a:br>
              <a:rPr lang="en-US" dirty="0"/>
            </a:br>
            <a:r>
              <a:rPr lang="en-US" dirty="0">
                <a:hlinkClick r:id="rId2"/>
              </a:rPr>
              <a:t>🔗 GitHub</a:t>
            </a:r>
            <a:r>
              <a:rPr lang="en-US" dirty="0"/>
              <a:t> | </a:t>
            </a:r>
            <a:r>
              <a:rPr lang="en-US" dirty="0">
                <a:hlinkClick r:id="rId3"/>
              </a:rPr>
              <a:t>🔗 LinkedIn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79270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2DE7D-CAB5-CBBB-05B8-C656AA0A0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857999"/>
          </a:xfrm>
        </p:spPr>
        <p:txBody>
          <a:bodyPr>
            <a:normAutofit/>
          </a:bodyPr>
          <a:lstStyle/>
          <a:p>
            <a:pPr algn="ctr"/>
            <a:r>
              <a:rPr lang="en-US" sz="9600" b="1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7349951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5116</TotalTime>
  <Words>1057</Words>
  <Application>Microsoft Office PowerPoint</Application>
  <PresentationFormat>Widescreen</PresentationFormat>
  <Paragraphs>148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Revenue Performance, Returns &amp; Product Reliability and Customer Profitability Analysis</vt:lpstr>
      <vt:lpstr>🎯 Objective</vt:lpstr>
      <vt:lpstr>📘 Project Overview</vt:lpstr>
      <vt:lpstr>🗂️ Data Overview &amp; Schema</vt:lpstr>
      <vt:lpstr>💻 Tech Stack</vt:lpstr>
      <vt:lpstr>📈 Methodology &amp; Analysis</vt:lpstr>
      <vt:lpstr>❓ Problem Statement</vt:lpstr>
      <vt:lpstr>💡 Key Insights</vt:lpstr>
      <vt:lpstr>📍Conclusion</vt:lpstr>
      <vt:lpstr>🖥️ Dashboard Overview (1) – Revenue Performance</vt:lpstr>
      <vt:lpstr>🖥️ Dashboard Overview (2) – Returns &amp; Product Reliability</vt:lpstr>
      <vt:lpstr>🖥️ Dashboard Overview (3) – Customer Profitability</vt:lpstr>
      <vt:lpstr>✅ Business Impact &amp; Use Cases</vt:lpstr>
      <vt:lpstr>🙏 Acknowledgement &amp; Contact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Anik Chakraborty</dc:creator>
  <cp:lastModifiedBy>Anik Chakraborty</cp:lastModifiedBy>
  <cp:revision>56</cp:revision>
  <dcterms:created xsi:type="dcterms:W3CDTF">2025-10-10T07:10:37Z</dcterms:created>
  <dcterms:modified xsi:type="dcterms:W3CDTF">2026-03-23T17:00:09Z</dcterms:modified>
</cp:coreProperties>
</file>